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7569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Mutual Fund Analytics — Capstone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74268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Author: Sk Ali Abbas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summarizes the end-to-end analytics delivered for a mutual fund portfolio evaluation: architecture, data pipeline, performance &amp; risk analytics, investor cohorts, and interactive Power BI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79822"/>
            <a:ext cx="491356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646783"/>
            <a:ext cx="4722763" cy="241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Limited, fragmented analytics for multi-manager mutual funds—insufficient performance attribution and investor segmentation.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objective: Build a reproducible analytics pipeline to measure fund performance, risk, and investor behavior.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Deliverables: Cleaned datasets, performance &amp; risk metrics (CAGR, Sharpe, Sortino, VaR, CVaR), cohort analyses, and interactive Power BI dashboards.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criteria: Transparent methodology, reproducibility, and actionable insights for portfolio managers and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850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Architecture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07728"/>
            <a:ext cx="1931566" cy="2162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6772" y="121406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674688"/>
            <a:ext cx="1609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1981200"/>
            <a:ext cx="16099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&amp; streaming pulls from custodians, fund administrators, pricing vendors.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43" y="1107728"/>
            <a:ext cx="1931640" cy="2162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171" y="121406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30252" y="1674688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&amp; Normalization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730252" y="2202656"/>
            <a:ext cx="16100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corporate actions, NAV interpolation, timezone alignment.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107728"/>
            <a:ext cx="1931640" cy="21629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23570" y="121406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03651" y="1674688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Store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03651" y="1981200"/>
            <a:ext cx="16100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series, factor exposures, investor-level transactions, derived metrics.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241" y="1107728"/>
            <a:ext cx="1931640" cy="21629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96969" y="121406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877050" y="1674688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&amp; Modeling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877050" y="2202656"/>
            <a:ext cx="16100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Performance, risk engines, cohort algorithms, backtests.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412480"/>
            <a:ext cx="8151763" cy="12610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6908" y="351881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56927" y="3979441"/>
            <a:ext cx="20467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 &amp; Delivery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56927" y="4285952"/>
            <a:ext cx="7830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dashboards, automated reports, API endpoints for queries.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097607"/>
            <a:ext cx="3733726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Sources &amp; Pipeline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59372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sources: Fund NAVs, holdings, trades, corporate actions, benchmark returns, macro factors, and investor transaction logs.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174900"/>
            <a:ext cx="4752677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Ingestion: API pulls (pricing vendors), SFTP (administrators), scheduled jobs.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Transformations: De-duplication, corporate action adjustments, return calculations (log &amp; arithmetic), missing-value strategies.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Storage: Parquet on cloud object store + analytical SQL layer for ad hoc queries.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Governance: Schema registry, data quality checks, lineage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8348"/>
            <a:ext cx="623641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 — Key Findings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46225"/>
            <a:ext cx="753740" cy="942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1946225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Profiles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252737"/>
            <a:ext cx="166821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Funds show heterogeneous return trajectories; top quartile exhibits higher volatility but superior long-run CAGR.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46225"/>
            <a:ext cx="753740" cy="942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1946225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Distributional Characteristics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474193"/>
            <a:ext cx="166821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distributions are leptokurtic with skew; tail risk is material across funds—motivating CVaR analysis.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46225"/>
            <a:ext cx="753740" cy="942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1946225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Costs &amp; Net Returns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474193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expense ratios correlate with lower net returns after fees; outliers identified for deeper attribution.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99914"/>
            <a:ext cx="5194622" cy="29435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2713" y="672778"/>
            <a:ext cx="2659931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 Performance Metrics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992713" y="1386408"/>
            <a:ext cx="26599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computed standard, risk-adjusted metrics to compare funds on a consistent basis: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992713" y="1843013"/>
            <a:ext cx="2659931" cy="170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CAGR</a:t>
            </a:r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Annualized growth from inception periods; benchmarks included for excess return.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 Ratio</a:t>
            </a:r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Excess return per unit volatility (annualized), using risk-free rate alignment.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Sortino Ratio</a:t>
            </a:r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Downside-focused risk-adjusted return emphasizing downside deviation.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92713" y="3664744"/>
            <a:ext cx="2659931" cy="792882"/>
          </a:xfrm>
          <a:prstGeom prst="roundRect">
            <a:avLst>
              <a:gd name="adj" fmla="val 645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29" y="3843710"/>
            <a:ext cx="152251" cy="1218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8596" y="3789387"/>
            <a:ext cx="214223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note: Returns are net of fees where available; all ratios annualized and computed on daily return series.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77329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Analytics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344290"/>
            <a:ext cx="1479724" cy="2408709"/>
          </a:xfrm>
          <a:prstGeom prst="roundRect">
            <a:avLst>
              <a:gd name="adj" fmla="val 4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490811"/>
            <a:ext cx="1186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 at Risk (VaR)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018779"/>
            <a:ext cx="118668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Parametric and historical 1-day and 10-day VaR at 95% and 99% confidence intervals for each fund.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17601" y="1344290"/>
            <a:ext cx="1479724" cy="2408709"/>
          </a:xfrm>
          <a:prstGeom prst="roundRect">
            <a:avLst>
              <a:gd name="adj" fmla="val 4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64122" y="1490811"/>
            <a:ext cx="1186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Conditional VaR (CVaR)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64122" y="2018779"/>
            <a:ext cx="118668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shortfall measured to capture tail loss severity beyond the VaR threshold.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39083" y="1344290"/>
            <a:ext cx="1479724" cy="2408709"/>
          </a:xfrm>
          <a:prstGeom prst="roundRect">
            <a:avLst>
              <a:gd name="adj" fmla="val 4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5605" y="1490811"/>
            <a:ext cx="1186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Rolling Sharpe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85605" y="2018779"/>
            <a:ext cx="118668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6-month and 12-month rolling Sharpe ratios to track performance regime shifts and persistence.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91246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 Several top-CAGR funds show elevated CVaR — high returns accompanied by concentrated tail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534144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Investor Analytics &amp; Cohort Analysis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38462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investors by vintage, AUM tier, and behavior to understand retention and contribution: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965796"/>
            <a:ext cx="3902943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Cohorts by Onboarding Month: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Retention and net flows tracked at 1, 6, and 12 months.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Analysis: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Pareto of investors vs returns — top 10% of investors account for majority of assets under management.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Signals: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Churn correlated with negative rolling performance and high realized drawdowns.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812084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C7C9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4027140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97505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Actionable: Flag cohorts with early outflows for targeted engagement and communication.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20241"/>
            <a:ext cx="3902943" cy="3902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069181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— Industry Overview (Dashboard)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91966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highlights: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274019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allocation heatmap with weighted returns.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contributors by AUM and performance attribution.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slicers: date range, fund family, and region for drill-downs.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40794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note: Visuals emphasize clarity for rapid decision-making — filters persist across pages for consistent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6285"/>
            <a:ext cx="3478039" cy="197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647551"/>
            <a:ext cx="432777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— Fund Performance &amp; Investor Analytics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1498029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pages included in the dashboard: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1852389"/>
            <a:ext cx="432777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overview: CAGR, Sharpe, Sortino, expense ratios and net flows table.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center: VaR/CVaR comparatives, drawdown decomposition, rolling metrics.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page: cohort retention curves, contribution waterfall, and segment-level KPIs.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24796" y="3471863"/>
            <a:ext cx="4327773" cy="1006376"/>
          </a:xfrm>
          <a:prstGeom prst="roundRect">
            <a:avLst>
              <a:gd name="adj" fmla="val 5917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555" y="368691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85494" y="3634829"/>
            <a:ext cx="37253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bookmarks and narrative captions guide stakeholders through recommended views during presentations.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2026-06-12T13:50:45Z</dcterms:created>
  <dcterms:modified xsi:type="dcterms:W3CDTF">2026-06-12T13:50:45Z</dcterms:modified>
</cp:coreProperties>
</file>